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8" r:id="rId4"/>
    <p:sldId id="257" r:id="rId5"/>
    <p:sldId id="259" r:id="rId6"/>
    <p:sldId id="260" r:id="rId7"/>
    <p:sldId id="261" r:id="rId8"/>
    <p:sldId id="262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308"/>
    <a:srgbClr val="FBDA95"/>
    <a:srgbClr val="F0B691"/>
    <a:srgbClr val="A7A077"/>
    <a:srgbClr val="F1B630"/>
    <a:srgbClr val="FFEECB"/>
    <a:srgbClr val="D7A382"/>
    <a:srgbClr val="E5E44F"/>
    <a:srgbClr val="3C4311"/>
    <a:srgbClr val="FFE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04"/>
    <p:restoredTop sz="93421"/>
  </p:normalViewPr>
  <p:slideViewPr>
    <p:cSldViewPr snapToGrid="0" snapToObjects="1">
      <p:cViewPr varScale="1">
        <p:scale>
          <a:sx n="145" d="100"/>
          <a:sy n="145" d="100"/>
        </p:scale>
        <p:origin x="6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15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b="0" i="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 b="0" i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b="0" i="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知</a:t>
            </a:r>
            <a:r>
              <a:rPr lang="ja-JP" altLang="en-US" b="0" i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っていますか？</a:t>
            </a:r>
          </a:p>
        </c:rich>
      </c:tx>
      <c:layout>
        <c:manualLayout>
          <c:xMode val="edge"/>
          <c:yMode val="edge"/>
          <c:x val="0.19545282604698483"/>
          <c:y val="5.40067019340352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15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貧乏神を知っていますか？</c:v>
                </c:pt>
              </c:strCache>
            </c:strRef>
          </c:tx>
          <c:dPt>
            <c:idx val="0"/>
            <c:bubble3D val="0"/>
            <c:spPr>
              <a:solidFill>
                <a:srgbClr val="F0B69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5-2D41-9A4B-2A31818AA282}"/>
              </c:ext>
            </c:extLst>
          </c:dPt>
          <c:dPt>
            <c:idx val="1"/>
            <c:bubble3D val="0"/>
            <c:spPr>
              <a:solidFill>
                <a:srgbClr val="FBDA9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C65-2D41-9A4B-2A31818AA282}"/>
              </c:ext>
            </c:extLst>
          </c:dPt>
          <c:cat>
            <c:strRef>
              <c:f>工作表1!$A$2:$A$3</c:f>
              <c:strCache>
                <c:ptCount val="2"/>
                <c:pt idx="0">
                  <c:v>知っている</c:v>
                </c:pt>
                <c:pt idx="1">
                  <c:v>知らない</c:v>
                </c:pt>
              </c:strCache>
            </c:strRef>
          </c:cat>
          <c:val>
            <c:numRef>
              <c:f>工作表1!$B$2:$B$3</c:f>
              <c:numCache>
                <c:formatCode>0.00%</c:formatCode>
                <c:ptCount val="2"/>
                <c:pt idx="0">
                  <c:v>0.91700000000000004</c:v>
                </c:pt>
                <c:pt idx="1">
                  <c:v>8.3000000000000004E-2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65-2D41-9A4B-2A31818AA2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9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defRPr>
            </a:pPr>
            <a:endParaRPr lang="zh-TW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defRPr>
            </a:pPr>
            <a:endParaRPr lang="zh-TW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b="0" i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何を通して知りましたか？</a:t>
            </a:r>
          </a:p>
        </c:rich>
      </c:tx>
      <c:layout>
        <c:manualLayout>
          <c:xMode val="edge"/>
          <c:yMode val="edge"/>
          <c:x val="0.30886586192107029"/>
          <c:y val="4.20422480956095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もし知っているならば、何を通して知りましたか？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BDA9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C4D-2A4C-9BE3-DD8FF8B123F7}"/>
              </c:ext>
            </c:extLst>
          </c:dPt>
          <c:dPt>
            <c:idx val="1"/>
            <c:bubble3D val="0"/>
            <c:spPr>
              <a:solidFill>
                <a:srgbClr val="A7A07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4D-2A4C-9BE3-DD8FF8B123F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80-2E44-90B8-330D03C06321}"/>
              </c:ext>
            </c:extLst>
          </c:dPt>
          <c:dPt>
            <c:idx val="3"/>
            <c:bubble3D val="0"/>
            <c:spPr>
              <a:solidFill>
                <a:srgbClr val="F0B69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4D-2A4C-9BE3-DD8FF8B123F7}"/>
              </c:ext>
            </c:extLst>
          </c:dPt>
          <c:cat>
            <c:strRef>
              <c:f>工作表1!$A$2:$A$5</c:f>
              <c:strCache>
                <c:ptCount val="4"/>
                <c:pt idx="0">
                  <c:v>ゲーム</c:v>
                </c:pt>
                <c:pt idx="1">
                  <c:v>伝聞</c:v>
                </c:pt>
                <c:pt idx="2">
                  <c:v>アニメ、漫画</c:v>
                </c:pt>
                <c:pt idx="3">
                  <c:v>他</c:v>
                </c:pt>
              </c:strCache>
            </c:strRef>
          </c:cat>
          <c:val>
            <c:numRef>
              <c:f>工作表1!$B$2:$B$5</c:f>
              <c:numCache>
                <c:formatCode>0.00%</c:formatCode>
                <c:ptCount val="4"/>
                <c:pt idx="0">
                  <c:v>0.27300000000000002</c:v>
                </c:pt>
                <c:pt idx="1">
                  <c:v>0.182</c:v>
                </c:pt>
                <c:pt idx="2">
                  <c:v>0.182</c:v>
                </c:pt>
                <c:pt idx="3">
                  <c:v>0.36299999999999999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4D-2A4C-9BE3-DD8FF8B123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34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CC4308"/>
                </a:solidFill>
                <a:latin typeface="+mn-lt"/>
                <a:ea typeface="+mn-ea"/>
                <a:cs typeface="+mn-cs"/>
              </a:defRPr>
            </a:pPr>
            <a:r>
              <a:rPr lang="ja-JP" altLang="en-US" sz="1920">
                <a:solidFill>
                  <a:srgbClr val="CC4308"/>
                </a:solidFill>
                <a:latin typeface="+mj-ea"/>
                <a:ea typeface="+mj-ea"/>
              </a:rPr>
              <a:t>そういう神様はこの世に存在すると信じますか？</a:t>
            </a:r>
          </a:p>
        </c:rich>
      </c:tx>
      <c:layout>
        <c:manualLayout>
          <c:xMode val="edge"/>
          <c:yMode val="edge"/>
          <c:x val="6.1712689158718713E-2"/>
          <c:y val="3.6867512810941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CC4308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そういう神様はこの世に存在すると信じますか？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0B69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BD0-6C4A-ACD8-A10D0F31EFB9}"/>
              </c:ext>
            </c:extLst>
          </c:dPt>
          <c:dPt>
            <c:idx val="1"/>
            <c:bubble3D val="0"/>
            <c:spPr>
              <a:solidFill>
                <a:srgbClr val="FBDA9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D0-6C4A-ACD8-A10D0F31EFB9}"/>
              </c:ext>
            </c:extLst>
          </c:dPt>
          <c:cat>
            <c:strRef>
              <c:f>工作表1!$A$2:$A$3</c:f>
              <c:strCache>
                <c:ptCount val="2"/>
                <c:pt idx="0">
                  <c:v>はい</c:v>
                </c:pt>
                <c:pt idx="1">
                  <c:v>いいえ</c:v>
                </c:pt>
              </c:strCache>
            </c:strRef>
          </c:cat>
          <c:val>
            <c:numRef>
              <c:f>工作表1!$B$2:$B$3</c:f>
              <c:numCache>
                <c:formatCode>General</c:formatCode>
                <c:ptCount val="2"/>
                <c:pt idx="0">
                  <c:v>66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D0-6C4A-ACD8-A10D0F31E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6AC11-D535-1B4A-A0D3-A1AF35957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1574857-8D15-A24E-9184-055275C5F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3F0C12-23BF-2E41-9FD2-275EA100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4EC765-9CD0-4544-908F-DB1513F1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FB1D0B-1360-474F-A316-9259B382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023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B1CE30-01E8-F947-A3E1-8A44F85C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F1402-49B0-794F-B3B1-56E46DE28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559E8E-D31B-044B-B704-AC36A43A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47194F-6BF8-9D4D-A330-711FCD1E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F4BE8-FEFB-6543-955E-1E301CB8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642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4B20C-D84E-DC47-87AF-6A6CDC35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E1291C-E713-AB4E-A3A0-6964BBC2A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DCA273-C27A-FF49-BD84-95730376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F97A7D-29CE-6144-B958-DB6A809F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9C4380-E9F9-234D-8657-99AAC072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361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37B7D-AF52-FF45-BDFD-B276DC5B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8AB348-6AC5-784B-A6A1-12FDEB736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FF507B-8816-5742-B9AA-2ED893CA0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B377C4-64FA-914E-ACB4-B9D41F58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1AACC3-E085-974C-BEDE-EA3FB701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F21ADF-4372-5B47-A9A5-07BB7AD3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961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DC549-8712-2340-8FC4-7225ECD6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F0A2FB-5592-5541-A11A-008F97DD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599CB9-3DC2-F948-82B5-0EA4A7EF0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4A4FD8E-5F04-814D-86DB-6FFF85FE8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0735667-A5A7-394E-84F0-30EE60098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E4622E-344C-A740-B5E2-FC1AEB5F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3FAC18-68F7-F64A-A834-E0815939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1657E4F-1F70-8E4E-817D-485C284B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51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D7118-8173-C844-962C-C76E8DB7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285872-58F2-7743-B659-37EED8BD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021BD4-7662-5040-B6CE-32CC8006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E3C74B-1DCC-C445-AA6A-49560A47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640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D32EAE-0C23-2647-A6F8-73717AAE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65422C5-DFAB-8F42-9085-9047E80F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E3CAF-7202-884D-B0F9-171C8FB8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40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41CBB2-7FC0-D84E-927A-BB5CC8C6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8E93F1-44F4-6D4A-BAD0-E0CBAE93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6AB1B7-7106-CD40-AF3B-357D94B62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548215-24B0-BA4C-A8A2-BF2AC597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5B1D6E-31C8-7747-848D-1C66388B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8C26BF-8AE4-0447-A67F-1DEE5A65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89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F472E-7344-4545-AEFB-818B5BFC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8B5276A-F732-3545-93EC-9A4FB59CD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639404-62E6-4247-A2E1-FECC8E768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B76B99-5C45-C945-A0B5-C8A06A01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5F153C-0940-3047-8B65-EBF901F2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AF3725-B267-EA42-939D-2B9D8C55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106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E58F5-E935-924D-9CD2-882BDBBA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EE37C2-1425-1442-8E26-6130C450E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5948A2-DF20-C84C-8BB2-4C3B5512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21916D-4B24-6045-8AB9-3A51E5AF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6AAE5D-6669-694C-A014-49E15652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236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B36855-D4DC-D144-8F41-CCDECE677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AB2C9E-7C7C-524E-BB92-1DCE94CD3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051A52-C342-5E46-A83D-14B47B13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8D08AA-BBD8-E648-87A0-71D94468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A55DA7-4B08-654C-B404-196C8585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304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CE5A213-BD00-9540-B5E7-A3ED8E62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20A274-0A9E-094B-B9D5-040F8FF2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C2E214-041D-1342-A8AF-27AB22F53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ACB45-BD73-7443-B049-C4F33893B65E}" type="datetimeFigureOut">
              <a:rPr kumimoji="1" lang="zh-TW" altLang="en-US" smtClean="0"/>
              <a:t>2025/9/30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BAC440-5AAF-8841-915D-95C000941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1224CF-1098-F746-86E3-75D1D4C51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F443A-5373-244A-8325-EF86BD8C5BE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2648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F8ED6F4-E3F9-124F-BB7B-49853F80213A}"/>
              </a:ext>
            </a:extLst>
          </p:cNvPr>
          <p:cNvSpPr txBox="1">
            <a:spLocks/>
          </p:cNvSpPr>
          <p:nvPr/>
        </p:nvSpPr>
        <p:spPr>
          <a:xfrm>
            <a:off x="1645463" y="113813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皆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さんは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といったら、どんな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思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出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しますか？</a:t>
            </a:r>
            <a:endParaRPr kumimoji="1" lang="zh-TW" altLang="en-US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03FB55-6C9D-9A4F-A0C7-5F2A0790A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75" y="3180360"/>
            <a:ext cx="2509776" cy="278864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3C2C7B-C55D-0941-BAD2-F112A468E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644" y="3180360"/>
            <a:ext cx="2625089" cy="262508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4A5BAC8-56B6-2D45-AE9E-1729B1E5E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432" y="3313690"/>
            <a:ext cx="2736850" cy="24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0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73"/>
    </mc:Choice>
    <mc:Fallback xmlns="">
      <p:transition spd="slow" advTm="237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317C7-3CE1-F840-9F36-51B728E6A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5949" y="723482"/>
            <a:ext cx="9144000" cy="2387600"/>
          </a:xfrm>
        </p:spPr>
        <p:txBody>
          <a:bodyPr/>
          <a:lstStyle/>
          <a:p>
            <a:r>
              <a:rPr kumimoji="1"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D414699-BF6A-A045-8F12-EA8920B6D4A5}"/>
              </a:ext>
            </a:extLst>
          </p:cNvPr>
          <p:cNvCxnSpPr/>
          <p:nvPr/>
        </p:nvCxnSpPr>
        <p:spPr>
          <a:xfrm>
            <a:off x="6273478" y="3229337"/>
            <a:ext cx="5833641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6F44285-17AC-E542-84EE-D24AE53B941C}"/>
              </a:ext>
            </a:extLst>
          </p:cNvPr>
          <p:cNvSpPr txBox="1"/>
          <p:nvPr/>
        </p:nvSpPr>
        <p:spPr>
          <a:xfrm>
            <a:off x="6273478" y="3565003"/>
            <a:ext cx="5567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2202156</a:t>
            </a:r>
            <a:r>
              <a:rPr kumimoji="1"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kumimoji="1" lang="zh-CN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李</a:t>
            </a:r>
            <a:r>
              <a:rPr kumimoji="1"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 孟潔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26E1FF-F10F-0A47-BCBB-45E95F1ECAAC}"/>
              </a:ext>
            </a:extLst>
          </p:cNvPr>
          <p:cNvSpPr/>
          <p:nvPr/>
        </p:nvSpPr>
        <p:spPr>
          <a:xfrm rot="13520782">
            <a:off x="3170157" y="3915163"/>
            <a:ext cx="1883446" cy="1883446"/>
          </a:xfrm>
          <a:prstGeom prst="rect">
            <a:avLst/>
          </a:prstGeom>
          <a:solidFill>
            <a:srgbClr val="F0B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EAE83A-5D2B-2147-A7EE-F1043775D890}"/>
              </a:ext>
            </a:extLst>
          </p:cNvPr>
          <p:cNvSpPr/>
          <p:nvPr/>
        </p:nvSpPr>
        <p:spPr>
          <a:xfrm rot="13539337">
            <a:off x="1698271" y="2406929"/>
            <a:ext cx="1883446" cy="1883446"/>
          </a:xfrm>
          <a:prstGeom prst="rect">
            <a:avLst/>
          </a:prstGeom>
          <a:solidFill>
            <a:srgbClr val="FBDA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FD81AC-5232-9940-979E-22A0968B973F}"/>
              </a:ext>
            </a:extLst>
          </p:cNvPr>
          <p:cNvSpPr/>
          <p:nvPr/>
        </p:nvSpPr>
        <p:spPr>
          <a:xfrm rot="13492639">
            <a:off x="3170178" y="877476"/>
            <a:ext cx="1883446" cy="1883446"/>
          </a:xfrm>
          <a:prstGeom prst="rect">
            <a:avLst/>
          </a:prstGeom>
          <a:solidFill>
            <a:srgbClr val="A7A0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6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9"/>
    </mc:Choice>
    <mc:Fallback xmlns="">
      <p:transition spd="slow" advTm="99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テーマ選んだ理由</a:t>
            </a:r>
            <a:endParaRPr kumimoji="1" lang="zh-TW" altLang="en-US" sz="2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日本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にいろんな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がいる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多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くの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幸福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やお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金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などの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良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いことをもたらしてくれますが、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悪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いことをもたらす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初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めて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知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りました。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アニメの「おじゃま丸」、ゲームの「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桃太郎電鉄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シリーズ」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中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にも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てきます。</a:t>
            </a:r>
            <a:endParaRPr kumimoji="1" lang="zh-TW" altLang="en-US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BAE5D38-84BE-344D-87E0-98C621068A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7844274" y="1618408"/>
            <a:ext cx="5723965" cy="572396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A99EF7D6-6D19-304C-BBD7-C3AFFF2365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148711" y="4657155"/>
            <a:ext cx="1829797" cy="182979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21CB30BD-BF33-1C4B-BC4A-8F1D96930B8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137740" y="837234"/>
            <a:ext cx="1829797" cy="182979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992372F-9BF8-3A4C-A2A8-99D0E7EC7BF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637920" y="2747693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1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942"/>
    </mc:Choice>
    <mc:Fallback xmlns="">
      <p:transition spd="slow" advTm="519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0D76C80C-C217-694B-8560-2A00FB0D9686}"/>
              </a:ext>
            </a:extLst>
          </p:cNvPr>
          <p:cNvGrpSpPr/>
          <p:nvPr/>
        </p:nvGrpSpPr>
        <p:grpSpPr>
          <a:xfrm>
            <a:off x="788741" y="2689840"/>
            <a:ext cx="1665493" cy="1852532"/>
            <a:chOff x="788741" y="2689840"/>
            <a:chExt cx="1665493" cy="1852532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2FB1F0F-1FD7-614A-B3B3-2DD03B47121A}"/>
                </a:ext>
              </a:extLst>
            </p:cNvPr>
            <p:cNvSpPr txBox="1"/>
            <p:nvPr/>
          </p:nvSpPr>
          <p:spPr>
            <a:xfrm>
              <a:off x="788741" y="4173040"/>
              <a:ext cx="1665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貧乏神の定義</a:t>
              </a:r>
            </a:p>
          </p:txBody>
        </p: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543CAAE8-420D-E742-BD16-75CF75932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488" y="2689840"/>
              <a:ext cx="1026000" cy="1026000"/>
            </a:xfrm>
            <a:prstGeom prst="rect">
              <a:avLst/>
            </a:prstGeom>
          </p:spPr>
        </p:pic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8640EF1-B40D-AE4A-920D-D998F3D1A1A1}"/>
              </a:ext>
            </a:extLst>
          </p:cNvPr>
          <p:cNvSpPr txBox="1"/>
          <p:nvPr/>
        </p:nvSpPr>
        <p:spPr>
          <a:xfrm>
            <a:off x="6855098" y="4152032"/>
            <a:ext cx="134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過去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民話</a:t>
            </a:r>
            <a:endParaRPr kumimoji="1" lang="en-US" altLang="zh-TW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6EBFB5BE-A1EC-0041-8A37-8B1ECAA64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68" y="2689840"/>
            <a:ext cx="1026000" cy="102600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A52A9638-8F27-7A47-BE40-3B9E4C39C5FE}"/>
              </a:ext>
            </a:extLst>
          </p:cNvPr>
          <p:cNvGrpSpPr/>
          <p:nvPr/>
        </p:nvGrpSpPr>
        <p:grpSpPr>
          <a:xfrm>
            <a:off x="9535996" y="2689840"/>
            <a:ext cx="2224656" cy="1831524"/>
            <a:chOff x="9535996" y="2689840"/>
            <a:chExt cx="2224656" cy="1831524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5DF925E-88DB-D141-AC80-0BBFB0910528}"/>
                </a:ext>
              </a:extLst>
            </p:cNvPr>
            <p:cNvSpPr txBox="1"/>
            <p:nvPr/>
          </p:nvSpPr>
          <p:spPr>
            <a:xfrm>
              <a:off x="9535996" y="4152032"/>
              <a:ext cx="22246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今</a:t>
              </a:r>
              <a:r>
                <a:rPr kumimoji="1" lang="ja-JP" altLang="en-US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の</a:t>
              </a:r>
              <a:r>
                <a:rPr kumimoji="1" lang="zh-TW" altLang="en-US" dirty="0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人</a:t>
              </a:r>
              <a:r>
                <a:rPr kumimoji="1" lang="ja-JP" altLang="en-US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どう</a:t>
              </a:r>
              <a:r>
                <a:rPr kumimoji="1" lang="zh-TW" altLang="en-US" dirty="0">
                  <a:latin typeface="Gen Jyuu Gothic ExtraLight" panose="020B0003020203020207" pitchFamily="34" charset="-128"/>
                  <a:ea typeface="Gen Jyuu Gothic ExtraLight" panose="020B0003020203020207" pitchFamily="34" charset="-128"/>
                  <a:cs typeface="Gen Jyuu Gothic ExtraLight" panose="020B0003020203020207" pitchFamily="34" charset="-128"/>
                </a:rPr>
                <a:t>考えだ？</a:t>
              </a:r>
            </a:p>
          </p:txBody>
        </p:sp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849BB437-BFBF-C641-9534-37638C5FA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6122" y="2689840"/>
              <a:ext cx="1026000" cy="1026000"/>
            </a:xfrm>
            <a:prstGeom prst="rect">
              <a:avLst/>
            </a:prstGeom>
          </p:spPr>
        </p:pic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2E9B29-6BC2-2F44-BA6B-CABE6B24EA21}"/>
              </a:ext>
            </a:extLst>
          </p:cNvPr>
          <p:cNvSpPr txBox="1"/>
          <p:nvPr/>
        </p:nvSpPr>
        <p:spPr>
          <a:xfrm>
            <a:off x="3788193" y="4152032"/>
            <a:ext cx="1931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過去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外見</a:t>
            </a:r>
            <a:endParaRPr kumimoji="1" lang="zh-TW" altLang="en-US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BF7409DB-3C9A-C344-94BF-39D54644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305" y="2689840"/>
            <a:ext cx="1026000" cy="102600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42C52836-D516-ED49-8614-2A94E191E0BC}"/>
              </a:ext>
            </a:extLst>
          </p:cNvPr>
          <p:cNvSpPr/>
          <p:nvPr/>
        </p:nvSpPr>
        <p:spPr>
          <a:xfrm>
            <a:off x="-722404" y="-1251284"/>
            <a:ext cx="13667874" cy="2743200"/>
          </a:xfrm>
          <a:prstGeom prst="rect">
            <a:avLst/>
          </a:prstGeom>
          <a:solidFill>
            <a:srgbClr val="A7A0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88BEEBB-FAE2-9B48-B4F6-20CC531A0DB2}"/>
              </a:ext>
            </a:extLst>
          </p:cNvPr>
          <p:cNvSpPr/>
          <p:nvPr/>
        </p:nvSpPr>
        <p:spPr>
          <a:xfrm>
            <a:off x="-697808" y="5486400"/>
            <a:ext cx="13667874" cy="2743200"/>
          </a:xfrm>
          <a:prstGeom prst="rect">
            <a:avLst/>
          </a:prstGeom>
          <a:solidFill>
            <a:srgbClr val="F0B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227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1"/>
    </mc:Choice>
    <mc:Fallback xmlns="">
      <p:transition spd="slow" advTm="102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88E5E86-AF3E-DC4E-89F5-8AAE9ECBEF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7537041" y="1980700"/>
            <a:ext cx="5724000" cy="5724000"/>
          </a:xfrm>
          <a:prstGeom prst="rect">
            <a:avLst/>
          </a:prstGeom>
        </p:spPr>
      </p:pic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貧乏神について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日本大百科全書中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貧乏神「家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居着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いてその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家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にさせる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という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神。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」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日本国語大辞典中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貧乏神「神、貧乏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や、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不景気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なこと、</a:t>
            </a:r>
            <a:r>
              <a:rPr lang="zh-TW" altLang="en-US" sz="1800" b="1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不幸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な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ど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関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して。」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6E4B00-A19F-514A-8169-CB6DC70CEA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800000">
            <a:off x="-591671" y="-1066863"/>
            <a:ext cx="4876800" cy="4876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383EEE-F523-8740-884F-273A20C0E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70" y="3442255"/>
            <a:ext cx="3779152" cy="31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1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55"/>
    </mc:Choice>
    <mc:Fallback xmlns="">
      <p:transition spd="slow" advTm="626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35671D2-9404-1B42-BECA-130B58459D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8900000">
            <a:off x="7790404" y="2195322"/>
            <a:ext cx="5724000" cy="5724000"/>
          </a:xfrm>
          <a:prstGeom prst="rect">
            <a:avLst/>
          </a:prstGeom>
        </p:spPr>
      </p:pic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外見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乞食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のような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汚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れたふく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穿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いて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老人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姿、顔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青黒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く、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体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はやせて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手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渋団扇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持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って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悲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しそうな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表情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で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現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れるがいるという。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3F79D33-E6D6-AF41-BA70-DDB4C656A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47" y="376517"/>
            <a:ext cx="4164044" cy="606462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4EA1690-0541-1141-A63B-AA4D023675D8}"/>
              </a:ext>
            </a:extLst>
          </p:cNvPr>
          <p:cNvSpPr txBox="1"/>
          <p:nvPr/>
        </p:nvSpPr>
        <p:spPr>
          <a:xfrm>
            <a:off x="4379791" y="6102587"/>
            <a:ext cx="3854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「芳年存画　邪鬼窮鬼」月岡芳年　</a:t>
            </a:r>
            <a:endParaRPr kumimoji="1" lang="zh-TW" altLang="en-US" sz="16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sp>
        <p:nvSpPr>
          <p:cNvPr id="4" name="向右箭號 3">
            <a:extLst>
              <a:ext uri="{FF2B5EF4-FFF2-40B4-BE49-F238E27FC236}">
                <a16:creationId xmlns:a16="http://schemas.microsoft.com/office/drawing/2014/main" id="{55F802BB-97FD-6C4E-A5C1-33FD52286744}"/>
              </a:ext>
            </a:extLst>
          </p:cNvPr>
          <p:cNvSpPr/>
          <p:nvPr/>
        </p:nvSpPr>
        <p:spPr>
          <a:xfrm>
            <a:off x="3935392" y="4362029"/>
            <a:ext cx="1685119" cy="560832"/>
          </a:xfrm>
          <a:prstGeom prst="rightArrow">
            <a:avLst/>
          </a:prstGeom>
          <a:solidFill>
            <a:srgbClr val="A7A0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161AE1B-118F-4642-B624-34075B22B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572" y="3711397"/>
            <a:ext cx="1534379" cy="32302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B7A6C7C-F3E0-2D42-A6BA-D9C797B7E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958" y="3711397"/>
            <a:ext cx="2479740" cy="242222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169BD48-1BC4-4945-BC44-F5E68BE47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4217" y="3884011"/>
            <a:ext cx="2082800" cy="20828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4417EFD-85DA-894F-B962-D9BFAB856692}"/>
              </a:ext>
            </a:extLst>
          </p:cNvPr>
          <p:cNvSpPr txBox="1"/>
          <p:nvPr/>
        </p:nvSpPr>
        <p:spPr>
          <a:xfrm>
            <a:off x="5620511" y="376517"/>
            <a:ext cx="32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32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81"/>
    </mc:Choice>
    <mc:Fallback xmlns="">
      <p:transition spd="slow" advTm="665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D82AF4E-61A2-C84C-87FC-F3E66021FC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615621" y="1856122"/>
            <a:ext cx="5724000" cy="5724000"/>
          </a:xfrm>
          <a:prstGeom prst="rect">
            <a:avLst/>
          </a:prstGeom>
        </p:spPr>
      </p:pic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民話</a:t>
            </a:r>
            <a:endParaRPr kumimoji="1" lang="en-US" altLang="zh-TW" sz="20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598539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室町（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むろまじ</a:t>
            </a:r>
            <a:r>
              <a:rPr lang="zh-CN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）時代：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「堺（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さかい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）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女房達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上洛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（じょうらく）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京都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男達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へ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下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って。」</a:t>
            </a:r>
            <a:b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</a:b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69E3ED-1C00-EB46-AD6B-227DBDF33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6" y="2601555"/>
            <a:ext cx="3386630" cy="38267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E6A4157-87D2-AC41-B0C6-E13876C4236F}"/>
              </a:ext>
            </a:extLst>
          </p:cNvPr>
          <p:cNvSpPr txBox="1"/>
          <p:nvPr/>
        </p:nvSpPr>
        <p:spPr>
          <a:xfrm>
            <a:off x="4657164" y="3272370"/>
            <a:ext cx="7456371" cy="254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主人公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はこのような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姿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敬意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示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して、ちゃんとこの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言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うことに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耳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傾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けていました。そして、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家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から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出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て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行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く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時、貧乏神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主人公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にプレゼントをあげるか、お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金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手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入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れる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方法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指示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しました。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お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金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幸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せは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関係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ないと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考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えて、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友達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になり、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でも、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楽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しい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生活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をする</a:t>
            </a:r>
            <a:r>
              <a:rPr lang="zh-TW" altLang="en-US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物語</a:t>
            </a:r>
            <a:r>
              <a:rPr lang="ja-JP" altLang="en-US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もあります。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045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280"/>
    </mc:Choice>
    <mc:Fallback xmlns="">
      <p:transition spd="slow" advTm="1182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どう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考えだ？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DEA007-D8AC-294B-990F-07CBD22289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818534" y="2034318"/>
            <a:ext cx="5724000" cy="5724000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Autofit/>
          </a:bodyPr>
          <a:lstStyle/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知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っている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は９０％、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知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らないの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は８％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ja-JP" altLang="en-US" sz="1800">
                <a:solidFill>
                  <a:srgbClr val="CC4308"/>
                </a:solidFill>
              </a:rPr>
              <a:t>もし知っているならば、何を通して知りましたか？</a:t>
            </a: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ゲーム、桃太郎電鉄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シリーズ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214865-2FC3-5946-89F7-CEEABB794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872" y="4413936"/>
            <a:ext cx="3706376" cy="2092782"/>
          </a:xfrm>
          <a:prstGeom prst="rect">
            <a:avLst/>
          </a:prstGeom>
          <a:ln>
            <a:noFill/>
          </a:ln>
          <a:effectLst>
            <a:outerShdw sx="1000" sy="1000" algn="tl" rotWithShape="0">
              <a:srgbClr val="000000"/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D9CE7D3-244D-A342-BF5E-88A70973D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659" y="4126345"/>
            <a:ext cx="2667965" cy="2667965"/>
          </a:xfrm>
          <a:prstGeom prst="rect">
            <a:avLst/>
          </a:prstGeom>
        </p:spPr>
      </p:pic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48B84CFF-328D-A643-833D-20237B775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892003"/>
              </p:ext>
            </p:extLst>
          </p:nvPr>
        </p:nvGraphicFramePr>
        <p:xfrm>
          <a:off x="273050" y="218721"/>
          <a:ext cx="4938276" cy="329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B2FD7E63-0314-324F-ABC3-B176E7E158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173633"/>
              </p:ext>
            </p:extLst>
          </p:nvPr>
        </p:nvGraphicFramePr>
        <p:xfrm>
          <a:off x="-1082748" y="3514556"/>
          <a:ext cx="7649871" cy="332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55192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497"/>
    </mc:Choice>
    <mc:Fallback xmlns="">
      <p:transition spd="slow" advTm="704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どう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考えだ？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DEA007-D8AC-294B-990F-07CBD22289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818534" y="2034318"/>
            <a:ext cx="5724000" cy="5724000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Autofit/>
          </a:bodyPr>
          <a:lstStyle/>
          <a:p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どんなイメージですか</a:t>
            </a:r>
            <a:endParaRPr lang="en-US" altLang="ja-JP" sz="1800" dirty="0">
              <a:solidFill>
                <a:srgbClr val="CC4308"/>
              </a:solidFill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悪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嫌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い、うっとしい！</a:t>
            </a:r>
          </a:p>
          <a:p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そういう</a:t>
            </a:r>
            <a:r>
              <a:rPr lang="zh-TW" altLang="en-US" sz="180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はこの</a:t>
            </a:r>
            <a:r>
              <a:rPr lang="zh-TW" altLang="en-US" sz="180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世</a:t>
            </a:r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sz="180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存在</a:t>
            </a:r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すると</a:t>
            </a:r>
            <a:r>
              <a:rPr lang="zh-TW" altLang="en-US" sz="1800" dirty="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信</a:t>
            </a:r>
            <a:r>
              <a:rPr lang="ja-JP" altLang="en-US" sz="1800">
                <a:solidFill>
                  <a:srgbClr val="CC4308"/>
                </a:solidFill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じますか？</a:t>
            </a:r>
            <a:endParaRPr lang="en-US" altLang="ja-JP" sz="1800" dirty="0">
              <a:solidFill>
                <a:srgbClr val="CC4308"/>
              </a:solidFill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６６％の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信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じます」３４％の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信じない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」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endParaRPr lang="ja-JP" altLang="en-US" sz="180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971A1C-C6CD-954A-AC76-6C5D2333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79493">
            <a:off x="577595" y="3989854"/>
            <a:ext cx="1905089" cy="2618679"/>
          </a:xfrm>
          <a:prstGeom prst="rect">
            <a:avLst/>
          </a:prstGeom>
        </p:spPr>
      </p:pic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03AF3C31-592D-B14A-9ACC-02AFCC8583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0042435"/>
              </p:ext>
            </p:extLst>
          </p:nvPr>
        </p:nvGraphicFramePr>
        <p:xfrm>
          <a:off x="-1" y="340151"/>
          <a:ext cx="5560542" cy="4478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5694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42"/>
    </mc:Choice>
    <mc:Fallback xmlns="">
      <p:transition spd="slow" advTm="399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FFAE90DE-02EC-154F-B4D8-1F3B2BE0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175989" y="4399006"/>
            <a:ext cx="2904800" cy="4230628"/>
          </a:xfrm>
          <a:prstGeom prst="rect">
            <a:avLst/>
          </a:prstGeom>
        </p:spPr>
      </p:pic>
      <p:sp>
        <p:nvSpPr>
          <p:cNvPr id="25" name="圓角矩形 24">
            <a:extLst>
              <a:ext uri="{FF2B5EF4-FFF2-40B4-BE49-F238E27FC236}">
                <a16:creationId xmlns:a16="http://schemas.microsoft.com/office/drawing/2014/main" id="{ECD1767B-766B-E54D-B410-9B9FE61E235E}"/>
              </a:ext>
            </a:extLst>
          </p:cNvPr>
          <p:cNvSpPr/>
          <p:nvPr/>
        </p:nvSpPr>
        <p:spPr>
          <a:xfrm>
            <a:off x="4657164" y="1591396"/>
            <a:ext cx="7068672" cy="855777"/>
          </a:xfrm>
          <a:prstGeom prst="roundRect">
            <a:avLst/>
          </a:prstGeom>
          <a:solidFill>
            <a:srgbClr val="F0B69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8E312A-A036-6443-BB3F-CE393756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164" y="137153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過去</a:t>
            </a:r>
            <a:r>
              <a:rPr kumimoji="1" lang="ja-JP" altLang="en-US" sz="20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kumimoji="1" lang="zh-TW" altLang="en-US" sz="20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日本人、貧乏神に対して、考え方比べて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BC874-3936-F844-A509-EF9D1995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164" y="2667031"/>
            <a:ext cx="10515600" cy="4351338"/>
          </a:xfrm>
        </p:spPr>
        <p:txBody>
          <a:bodyPr>
            <a:noAutofit/>
          </a:bodyPr>
          <a:lstStyle/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民話の中以前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として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嫌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いだけれど、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として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れる、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話聞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いてほうがいいよ、という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複雑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な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感情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持って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います。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貧乏の後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きっといいことある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という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意義あります。</a:t>
            </a:r>
            <a:endParaRPr lang="en-US" altLang="zh-TW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今貧乏神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を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信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じる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人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がいます。でもそんなに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多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くはありません。だ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いたいゲームの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中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のキャラ、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物語中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のキャラ、キャラは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可愛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いです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pPr marL="0" indent="0">
              <a:buNone/>
            </a:pP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　が、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神様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に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としての敬意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はないでしょう。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  <a:p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今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は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多分「面白い」</a:t>
            </a:r>
            <a:r>
              <a:rPr lang="ja-JP" altLang="en-US" sz="1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が</a:t>
            </a:r>
            <a:r>
              <a:rPr lang="zh-TW" altLang="en-US" sz="1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大事。</a:t>
            </a:r>
            <a:endParaRPr lang="en-US" altLang="ja-JP" sz="1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43AAE6-0070-E645-AB8E-9C78398B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58222">
            <a:off x="404589" y="2890276"/>
            <a:ext cx="2587052" cy="376383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4698FF4-173D-0F4C-8FE2-CF7029F20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33016">
            <a:off x="2093766" y="310075"/>
            <a:ext cx="2256770" cy="3223957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22101C2-63F5-8644-B249-B4D75F42F7D4}"/>
              </a:ext>
            </a:extLst>
          </p:cNvPr>
          <p:cNvSpPr txBox="1"/>
          <p:nvPr/>
        </p:nvSpPr>
        <p:spPr>
          <a:xfrm>
            <a:off x="10354963" y="5399903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JasonHandwriting1" pitchFamily="2" charset="-120"/>
                <a:ea typeface="JasonHandwriting1" pitchFamily="2" charset="-120"/>
              </a:rPr>
              <a:t>？？？</a:t>
            </a:r>
          </a:p>
        </p:txBody>
      </p:sp>
    </p:spTree>
    <p:extLst>
      <p:ext uri="{BB962C8B-B14F-4D97-AF65-F5344CB8AC3E}">
        <p14:creationId xmlns:p14="http://schemas.microsoft.com/office/powerpoint/2010/main" val="418266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263"/>
    </mc:Choice>
    <mc:Fallback xmlns="">
      <p:transition spd="slow" advTm="8826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E26E1FF-F10F-0A47-BCBB-45E95F1ECAAC}"/>
              </a:ext>
            </a:extLst>
          </p:cNvPr>
          <p:cNvSpPr/>
          <p:nvPr/>
        </p:nvSpPr>
        <p:spPr>
          <a:xfrm rot="13520782">
            <a:off x="3170157" y="3915163"/>
            <a:ext cx="1883446" cy="1883446"/>
          </a:xfrm>
          <a:prstGeom prst="rect">
            <a:avLst/>
          </a:prstGeom>
          <a:solidFill>
            <a:srgbClr val="F0B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EAE83A-5D2B-2147-A7EE-F1043775D890}"/>
              </a:ext>
            </a:extLst>
          </p:cNvPr>
          <p:cNvSpPr/>
          <p:nvPr/>
        </p:nvSpPr>
        <p:spPr>
          <a:xfrm rot="13539337">
            <a:off x="1698271" y="2406929"/>
            <a:ext cx="1883446" cy="1883446"/>
          </a:xfrm>
          <a:prstGeom prst="rect">
            <a:avLst/>
          </a:prstGeom>
          <a:solidFill>
            <a:srgbClr val="FBDA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FD81AC-5232-9940-979E-22A0968B973F}"/>
              </a:ext>
            </a:extLst>
          </p:cNvPr>
          <p:cNvSpPr/>
          <p:nvPr/>
        </p:nvSpPr>
        <p:spPr>
          <a:xfrm rot="13492639">
            <a:off x="3170178" y="877476"/>
            <a:ext cx="1883446" cy="1883446"/>
          </a:xfrm>
          <a:prstGeom prst="rect">
            <a:avLst/>
          </a:prstGeom>
          <a:solidFill>
            <a:srgbClr val="A7A0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4F0407F-798B-034B-838B-88BB0AF3D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776" y="1137512"/>
            <a:ext cx="9144000" cy="2387600"/>
          </a:xfrm>
        </p:spPr>
        <p:txBody>
          <a:bodyPr>
            <a:normAutofit/>
          </a:bodyPr>
          <a:lstStyle/>
          <a:p>
            <a:r>
              <a:rPr lang="ja-JP" altLang="en-US" sz="2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ご</a:t>
            </a:r>
            <a:r>
              <a:rPr lang="zh-TW" altLang="en-US" sz="2800" dirty="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清聴</a:t>
            </a:r>
            <a:r>
              <a:rPr lang="ja-JP" altLang="en-US" sz="2800">
                <a:latin typeface="Gen Jyuu Gothic ExtraLight" panose="020B0003020203020207" pitchFamily="34" charset="-128"/>
                <a:ea typeface="Gen Jyuu Gothic ExtraLight" panose="020B0003020203020207" pitchFamily="34" charset="-128"/>
                <a:cs typeface="Gen Jyuu Gothic ExtraLight" panose="020B0003020203020207" pitchFamily="34" charset="-128"/>
              </a:rPr>
              <a:t>ありがとうございました。</a:t>
            </a:r>
            <a:endParaRPr lang="zh-TW" altLang="en-US" sz="2800" dirty="0">
              <a:latin typeface="Gen Jyuu Gothic ExtraLight" panose="020B0003020203020207" pitchFamily="34" charset="-128"/>
              <a:ea typeface="Gen Jyuu Gothic ExtraLight" panose="020B0003020203020207" pitchFamily="34" charset="-128"/>
              <a:cs typeface="Gen Jyuu Gothic ExtraLight" panose="020B0003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999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2"/>
    </mc:Choice>
    <mc:Fallback xmlns="">
      <p:transition spd="slow" advTm="542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50.5|0.7|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4.8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849</Words>
  <Application>Microsoft Office PowerPoint</Application>
  <PresentationFormat>寬螢幕</PresentationFormat>
  <Paragraphs>50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Gen Jyuu Gothic ExtraLight</vt:lpstr>
      <vt:lpstr>JasonHandwriting1</vt:lpstr>
      <vt:lpstr>Arial</vt:lpstr>
      <vt:lpstr>Calibri</vt:lpstr>
      <vt:lpstr>Calibri Light</vt:lpstr>
      <vt:lpstr>Office 佈景主題</vt:lpstr>
      <vt:lpstr>PowerPoint 簡報</vt:lpstr>
      <vt:lpstr>貧乏神</vt:lpstr>
      <vt:lpstr>テーマ選んだ理由</vt:lpstr>
      <vt:lpstr>PowerPoint 簡報</vt:lpstr>
      <vt:lpstr>貧乏神について</vt:lpstr>
      <vt:lpstr>貧乏神の外見</vt:lpstr>
      <vt:lpstr>民話</vt:lpstr>
      <vt:lpstr>今の人どう考えだ？</vt:lpstr>
      <vt:lpstr>今の人どう考えだ？</vt:lpstr>
      <vt:lpstr>今と過去の日本人、貧乏神に対して、考え方比べて</vt:lpstr>
      <vt:lpstr>ご清聴ありがとうございました。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貧乏神</dc:title>
  <dc:creator>Microsoft Office User</dc:creator>
  <cp:lastModifiedBy>孟潔 李</cp:lastModifiedBy>
  <cp:revision>52</cp:revision>
  <dcterms:created xsi:type="dcterms:W3CDTF">2022-05-22T14:21:29Z</dcterms:created>
  <dcterms:modified xsi:type="dcterms:W3CDTF">2025-09-30T15:36:11Z</dcterms:modified>
</cp:coreProperties>
</file>